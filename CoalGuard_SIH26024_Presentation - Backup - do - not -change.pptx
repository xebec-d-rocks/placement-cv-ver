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89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0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84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2 min: Introduce CoalGuard as direct answer to PSID 26024. Point to live screenshot on right (real dashboard). Highlight 459 mines scale. Set expectation: live demo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2 min: Diagnose pain with 6 challenges. Ground in real data scale (459-row Kaggle). Emphasize manual/paper root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1.5 min: Position as unified answer. Walk 5 pillars and field→HQ flow. Stress paperless +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2 min: Explain local-first, dual-stack fix, Celery hourly jobs. Boring-tech for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1.5 min: Prove completeness row by row. Reference exact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2.5 min: LIVE demo. If possible switch to browser. Narrate KPIs, map colors, charts. Highlight this is real screenshot from viewport, not Figma.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1.5 min: Show registry filtering and drill-down. Mention Real/Synthetic tag and is_synthetic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2 min: Explain formula and why explainable matters for regulators. Show real charts from dashboard mid viewport.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1.5 min: Walk lifecycle. Show Swagger is live, not diagram. Emphasize paperless + audit + OCR.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2 min: Contrast before/after, quantify, show run steps, roadmap. Close with vision: indigenous e-governance for every Indian coal 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1080"/>
              </a:lnSpc>
              <a:defRPr sz="900" b="0" i="0">
                <a:solidFill>
                  <a:srgbClr val="93A4B8"/>
                </a:solidFill>
                <a:latin typeface="Calibri"/>
              </a:defRPr>
            </a:pPr>
            <a:r>
              <a:t>MINISTRY OF COAL  •  COAL INDIA LIMITED  •  SIH 2026  •  PSID 26024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621792" cy="621792"/>
          </a:xfrm>
          <a:prstGeom prst="roundRect">
            <a:avLst>
              <a:gd name="adj" fmla="val 8000"/>
            </a:avLst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621792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640"/>
              </a:lnSpc>
              <a:defRPr sz="2200" b="1" i="0">
                <a:solidFill>
                  <a:srgbClr val="0F1620"/>
                </a:solidFill>
                <a:latin typeface="Calibri"/>
              </a:defRPr>
            </a:pPr>
            <a:r>
              <a:t>CG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7724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840"/>
              </a:lnSpc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CoalGuard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88720"/>
            <a:ext cx="64008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439"/>
              </a:lnSpc>
              <a:defRPr sz="1200" b="0" i="1">
                <a:solidFill>
                  <a:srgbClr val="93A4B8"/>
                </a:solidFill>
                <a:latin typeface="Calibri"/>
              </a:defRPr>
            </a:pPr>
            <a:r>
              <a:t>AI-Based Smart Governance &amp; Compliance Monitoring for Coal Mines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01168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SOFTWARE  •  SMART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One Platform to Govern</a:t>
            </a:r>
          </a:p>
          <a:p>
            <a:pPr>
              <a:spcAft>
                <a:spcPts val="400"/>
              </a:spcAft>
              <a:defRPr sz="3400" b="1">
                <a:solidFill>
                  <a:srgbClr val="3EA6FF"/>
                </a:solidFill>
                <a:latin typeface="Calibri"/>
              </a:defRPr>
            </a:pPr>
            <a:r>
              <a:t>Every Mine. Every Rule.</a:t>
            </a:r>
          </a:p>
          <a:p>
            <a:pPr>
              <a:defRPr sz="2400" b="0">
                <a:solidFill>
                  <a:srgbClr val="FFFFFF"/>
                </a:solidFill>
                <a:latin typeface="Calibri"/>
              </a:defRPr>
            </a:pPr>
            <a:r>
              <a:t>Every Field Report —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58368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0" i="0">
                <a:solidFill>
                  <a:srgbClr val="93A4B8"/>
                </a:solidFill>
                <a:latin typeface="Calibri"/>
              </a:defRPr>
            </a:pPr>
            <a:r>
              <a:t>Centralized, AI-enabled, paperless governance for 459 mines — integrating compliance, inspections, contractors &amp; field reporting into a single real-time ecosystem.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407408"/>
            <a:ext cx="1417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120"/>
              </a:lnSpc>
              <a:defRPr sz="2600" b="1" i="0">
                <a:solidFill>
                  <a:srgbClr val="3EA6FF"/>
                </a:solidFill>
                <a:latin typeface="Calibri"/>
              </a:defRPr>
            </a:pPr>
            <a:r>
              <a:t>459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417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Real Mines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43434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4407408"/>
            <a:ext cx="1417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120"/>
              </a:lnSpc>
              <a:defRPr sz="2600" b="1" i="0">
                <a:solidFill>
                  <a:srgbClr val="3EA6FF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800600"/>
            <a:ext cx="1417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Scored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43434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4407408"/>
            <a:ext cx="1417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120"/>
              </a:lnSpc>
              <a:defRPr sz="2600" b="1" i="0">
                <a:solidFill>
                  <a:srgbClr val="3EA6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800600"/>
            <a:ext cx="1417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34340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40680" y="4407408"/>
            <a:ext cx="1417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120"/>
              </a:lnSpc>
              <a:defRPr sz="2600" b="1" i="0">
                <a:solidFill>
                  <a:srgbClr val="3EA6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4800600"/>
            <a:ext cx="1417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High-Risk Flagged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777240"/>
            <a:ext cx="3840480" cy="4800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868680"/>
            <a:ext cx="35661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1" i="0">
                <a:solidFill>
                  <a:srgbClr val="3EA6FF"/>
                </a:solidFill>
                <a:latin typeface="Calibri"/>
              </a:defRPr>
            </a:pPr>
            <a:r>
              <a:t>LIVE DASHBOARD PREVIEW  •  REAL SCREENSHOT</a:t>
            </a:r>
          </a:p>
        </p:txBody>
      </p:sp>
      <p:pic>
        <p:nvPicPr>
          <p:cNvPr id="26" name="Picture 25" descr="dashboard_view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15568"/>
            <a:ext cx="3566160" cy="2011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18120" y="3200400"/>
            <a:ext cx="35661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Governance Dashboard — 8 live KPIs, Leaflet GIS (459 mines), Chart.js analytics. http://127.0.0.1:8001/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703320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3739896"/>
            <a:ext cx="1115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E6EDF3"/>
                </a:solidFill>
                <a:latin typeface="Calibri"/>
              </a:defRPr>
            </a:pPr>
            <a:r>
              <a:t>✓  Real-time KPIs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2" y="3703320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88552" y="3739896"/>
            <a:ext cx="1115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E6EDF3"/>
                </a:solidFill>
                <a:latin typeface="Calibri"/>
              </a:defRPr>
            </a:pPr>
            <a:r>
              <a:t>✓  Leaflet GIS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58984" y="3703320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58984" y="3739896"/>
            <a:ext cx="1115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E6EDF3"/>
                </a:solidFill>
                <a:latin typeface="Calibri"/>
              </a:defRPr>
            </a:pPr>
            <a:r>
              <a:t>✓  AI Risk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401421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0" y="4050792"/>
            <a:ext cx="1115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E6EDF3"/>
                </a:solidFill>
                <a:latin typeface="Calibri"/>
              </a:defRPr>
            </a:pPr>
            <a:r>
              <a:t>✓  Offline Mobile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401421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88552" y="4050792"/>
            <a:ext cx="1115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E6EDF3"/>
                </a:solidFill>
                <a:latin typeface="Calibri"/>
              </a:defRPr>
            </a:pPr>
            <a:r>
              <a:t>✓  Blockchain Audit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58984" y="401421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58984" y="4050792"/>
            <a:ext cx="11155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E6EDF3"/>
                </a:solidFill>
                <a:latin typeface="Calibri"/>
              </a:defRPr>
            </a:pPr>
            <a:r>
              <a:t>✓  OCR Paperless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443484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18120" y="4480560"/>
            <a:ext cx="3566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3EA6FF"/>
                </a:solidFill>
                <a:latin typeface="Calibri"/>
              </a:defRPr>
            </a:pPr>
            <a:r>
              <a:t>LIVE NOW →  localhost:8001  •  /  •  /mines/  •  /api/docs/  •  /health/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681728"/>
            <a:ext cx="3566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Run:  start_coalguard.bat  or  run_local.bat  (no Docker)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EF4444"/>
                </a:solidFill>
                <a:latin typeface="Calibri"/>
              </a:defRPr>
            </a:pPr>
            <a:r>
              <a:t>02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360"/>
              </a:lnSpc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Coal Governance Today: Fragmented, Delayed, Opaque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0" i="0">
                <a:solidFill>
                  <a:srgbClr val="93A4B8"/>
                </a:solidFill>
                <a:latin typeface="Calibri"/>
              </a:defRPr>
            </a:pPr>
            <a:r>
              <a:t>Operations across subsidiaries, mines, contractors &amp; regulators still run on spreadsheets, paper &amp; siloed reports — creating gaps HQ only discovers at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178308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19656"/>
            <a:ext cx="38404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28216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Inconsistency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03704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Multiple versions of 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6002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53711" y="178308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1" y="1819656"/>
            <a:ext cx="38404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1728216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Delayed</a:t>
            </a:r>
            <a:br/>
            <a:r>
              <a:t>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203704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Days-weeks field → HQ 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16002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02750" y="178308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0" y="1819656"/>
            <a:ext cx="38404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8" y="1728216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Limited</a:t>
            </a:r>
            <a:br/>
            <a:r>
              <a:t>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8" y="2203704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No real-time view for regulators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346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672" y="301752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54096"/>
            <a:ext cx="38404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962656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  <a:br/>
            <a:r>
              <a:t>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438144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Missed due dates, weak follow-up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19" y="28346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93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53711" y="3017520"/>
            <a:ext cx="384048" cy="384048"/>
          </a:xfrm>
          <a:prstGeom prst="ellipse">
            <a:avLst/>
          </a:prstGeom>
          <a:solidFill>
            <a:srgbClr val="93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1" y="3054096"/>
            <a:ext cx="38404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199" y="2962656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Duplication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199" y="3438144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Repeated manual entry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8" y="283464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93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02750" y="3017520"/>
            <a:ext cx="384048" cy="384048"/>
          </a:xfrm>
          <a:prstGeom prst="ellipse">
            <a:avLst/>
          </a:prstGeom>
          <a:solidFill>
            <a:srgbClr val="93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0" y="3054096"/>
            <a:ext cx="384048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8" y="2962656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Weak Field</a:t>
            </a:r>
            <a:br/>
            <a:r>
              <a:t>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38" y="3438144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Unverifiable field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297680"/>
            <a:ext cx="10972800" cy="1874519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434840"/>
            <a:ext cx="106070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rPr sz="1600" dirty="0"/>
              <a:t>SCALE OF REAL DATA WE INGESTED  •  Indian Coal Mines Dataset — Jan 2021 (Kaggle via </a:t>
            </a:r>
            <a:r>
              <a:rPr sz="1600" dirty="0" err="1"/>
              <a:t>kagglehub</a:t>
            </a:r>
            <a:r>
              <a:rPr sz="1600" dirty="0"/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709160"/>
            <a:ext cx="160020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754880"/>
            <a:ext cx="1600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400"/>
              </a:lnSpc>
              <a:defRPr sz="2000" b="1" i="0">
                <a:solidFill>
                  <a:srgbClr val="3EA6FF"/>
                </a:solidFill>
                <a:latin typeface="Calibri"/>
              </a:defRPr>
            </a:pPr>
            <a:r>
              <a:t>459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029200"/>
            <a:ext cx="1600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Mines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78608" y="4709160"/>
            <a:ext cx="160020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78608" y="4754880"/>
            <a:ext cx="1600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400"/>
              </a:lnSpc>
              <a:defRPr sz="2000" b="1" i="0">
                <a:solidFill>
                  <a:srgbClr val="3EA6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78608" y="5029200"/>
            <a:ext cx="1600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States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6" y="4709160"/>
            <a:ext cx="160020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6" y="4754880"/>
            <a:ext cx="1600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400"/>
              </a:lnSpc>
              <a:defRPr sz="2000" b="1" i="0">
                <a:solidFill>
                  <a:srgbClr val="3EA6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6" y="5029200"/>
            <a:ext cx="1600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Districts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9904" y="4709160"/>
            <a:ext cx="160020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9904" y="4754880"/>
            <a:ext cx="1600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400"/>
              </a:lnSpc>
              <a:defRPr sz="2000" b="1" i="0">
                <a:solidFill>
                  <a:srgbClr val="3EA6F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9904" y="5029200"/>
            <a:ext cx="1600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Owners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45552" y="4709160"/>
            <a:ext cx="160020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45552" y="4754880"/>
            <a:ext cx="1600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400"/>
              </a:lnSpc>
              <a:defRPr sz="2000" b="1" i="0">
                <a:solidFill>
                  <a:srgbClr val="3EA6FF"/>
                </a:solidFill>
                <a:latin typeface="Calibri"/>
              </a:defRPr>
            </a:pPr>
            <a:r>
              <a:t>459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5552" y="5029200"/>
            <a:ext cx="1600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Geocoded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0" y="4709160"/>
            <a:ext cx="160020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0" y="4754880"/>
            <a:ext cx="1600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400"/>
              </a:lnSpc>
              <a:defRPr sz="2000" b="1" i="0">
                <a:solidFill>
                  <a:srgbClr val="3EA6FF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029200"/>
            <a:ext cx="1600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Demo Seeded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440680"/>
            <a:ext cx="106070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200"/>
              </a:lnSpc>
              <a:defRPr sz="1000" b="0" i="0">
                <a:solidFill>
                  <a:srgbClr val="93A4B8"/>
                </a:solidFill>
                <a:latin typeface="Calibri"/>
              </a:defRPr>
            </a:pPr>
            <a:r>
              <a:t>Result →  Data inconsistency  •  Duplication  •  Compliance gaps undetected  •  Corrective actions slip overdue  •  HQ blindsided until escalation. PSID 26024 asks for an integrated smart governance platform to fix exactly this.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263640"/>
            <a:ext cx="10881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0" i="1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“Need for integrated smart governance… transparency, accountability, sustainability &amp; digital governance.” — PSID 26024, Ministry of Coal / CIL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EA6FF"/>
                </a:solidFill>
                <a:latin typeface="Calibri"/>
              </a:defRPr>
            </a:pPr>
            <a:r>
              <a:t>03 —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360"/>
              </a:lnSpc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CoalGuard — One Ecosystem, Zero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560"/>
              </a:lnSpc>
              <a:defRPr sz="1300" b="0" i="0">
                <a:solidFill>
                  <a:srgbClr val="93A4B8"/>
                </a:solidFill>
                <a:latin typeface="Calibri"/>
              </a:defRPr>
            </a:pPr>
            <a:r>
              <a:t>Centralized, AI-enabled platform that integrates every mine-level activity into a single paperless, real-time command centre — from field capture to Ministry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783080"/>
            <a:ext cx="2194560" cy="1234440"/>
          </a:xfrm>
          <a:prstGeom prst="roundRect">
            <a:avLst>
              <a:gd name="adj" fmla="val 8000"/>
            </a:avLst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83480" y="1965960"/>
            <a:ext cx="21945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640"/>
              </a:lnSpc>
              <a:defRPr sz="2200" b="1" i="0">
                <a:solidFill>
                  <a:srgbClr val="0F1620"/>
                </a:solidFill>
                <a:latin typeface="Calibri"/>
              </a:defRPr>
            </a:pPr>
            <a:r>
              <a:t>CoalGuard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286000"/>
            <a:ext cx="21945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439"/>
              </a:lnSpc>
              <a:defRPr sz="1200" b="0" i="0">
                <a:solidFill>
                  <a:srgbClr val="0F1620"/>
                </a:solidFill>
                <a:latin typeface="Calibri"/>
              </a:defRPr>
            </a:pPr>
            <a:r>
              <a:t>Central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606040"/>
            <a:ext cx="21945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1E3C5A"/>
                </a:solidFill>
                <a:latin typeface="Calibri"/>
              </a:defRPr>
            </a:pPr>
            <a:r>
              <a:t>Django 5.1  •  Postgres 17  •  Redis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69164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1819656"/>
            <a:ext cx="16916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  <a:br/>
            <a:r>
              <a:t>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258568"/>
            <a:ext cx="16916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Safety / Env / Labour / Prod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819656"/>
            <a:ext cx="16916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Inspections &amp;</a:t>
            </a:r>
            <a:br/>
            <a:r>
              <a:t>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58568"/>
            <a:ext cx="16916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Geo-tagged • Photo • Severity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24612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374136"/>
            <a:ext cx="16916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Corrective</a:t>
            </a:r>
            <a:br/>
            <a:r>
              <a:t>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13048"/>
            <a:ext cx="16916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Owner • Priority • Verify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24612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3374136"/>
            <a:ext cx="16916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Field Mobile</a:t>
            </a:r>
            <a:br/>
            <a:r>
              <a:t>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813048"/>
            <a:ext cx="16916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Offline • client_id • Photo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33756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6C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3465576"/>
            <a:ext cx="16916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GIS &amp;</a:t>
            </a:r>
            <a:br/>
            <a:r>
              <a:t>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904488"/>
            <a:ext cx="16916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Leaflet • Chart.js •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108813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3EA6FF"/>
                </a:solidFill>
                <a:latin typeface="Calibri"/>
              </a:defRPr>
            </a:pPr>
            <a:r>
              <a:t>FIELD  →  PLATFORM  →  HQ  — Every step geo-tagged, time-stamped, hash-audited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370" y="4983480"/>
            <a:ext cx="1691640" cy="83210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80160" y="5047488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102352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68112"/>
            <a:ext cx="1691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Field</a:t>
            </a:r>
            <a:br/>
            <a:r>
              <a:t>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285232"/>
            <a:ext cx="274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48889" y="4983480"/>
            <a:ext cx="1691640" cy="83210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54679" y="5047488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5102352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599" y="5468112"/>
            <a:ext cx="1691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Observation</a:t>
            </a:r>
            <a:br/>
            <a:r>
              <a:t>by Severity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39" y="5285232"/>
            <a:ext cx="274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3408" y="4983480"/>
            <a:ext cx="1691640" cy="83210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029198" y="5047488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198" y="5102352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18" y="5468112"/>
            <a:ext cx="1691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Corrective</a:t>
            </a:r>
            <a:br/>
            <a: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8" y="5285232"/>
            <a:ext cx="274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7927" y="4983480"/>
            <a:ext cx="1691640" cy="83210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903717" y="5047488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03717" y="5102352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37" y="5468112"/>
            <a:ext cx="1691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Auto</a:t>
            </a:r>
            <a:br/>
            <a:r>
              <a:t>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7" y="5285232"/>
            <a:ext cx="274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2446" y="4983480"/>
            <a:ext cx="1691640" cy="83210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778236" y="5047488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78236" y="5102352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56" y="5468112"/>
            <a:ext cx="1691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Dashboards</a:t>
            </a:r>
            <a:br/>
            <a:r>
              <a:t>&amp;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796" y="5285232"/>
            <a:ext cx="274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680"/>
              </a:lnSpc>
              <a:defRPr sz="14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46965" y="4983480"/>
            <a:ext cx="1691640" cy="83210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652755" y="5047488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52755" y="5102352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75" y="5468112"/>
            <a:ext cx="1691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Blockchain</a:t>
            </a:r>
            <a:br/>
            <a:r>
              <a:t>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EA6FF"/>
                </a:solidFill>
                <a:latin typeface="Calibri"/>
              </a:defRPr>
            </a:pPr>
            <a:r>
              <a:t>04 — 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360"/>
              </a:lnSpc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Architecture — Local-First, Production-Ready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949440" cy="3977639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5836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SYSTEM ARCHITECTURE — Browser / Mobile → Django → Redis / Postgres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583680" cy="50292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5836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0" i="0">
                <a:solidFill>
                  <a:srgbClr val="93A4B8"/>
                </a:solidFill>
                <a:latin typeface="Calibri"/>
              </a:defRPr>
            </a:pPr>
            <a:r>
              <a:t>Browser / Mobile  —  Dashboard (Chart.js + Leaflet)  •  Swagger UI  •  Field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3154680" cy="960120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524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1546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Django 5.1 + Gunicorn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15468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Whitenoise  •  RBAC 6 roles</a:t>
            </a:r>
            <a:br/>
            <a:r>
              <a:t>JWT (mobile) + Session (web)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423160"/>
            <a:ext cx="3154680" cy="960120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524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2542032"/>
            <a:ext cx="31546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DRF + JWT API  •  /api/*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761488"/>
            <a:ext cx="315468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t>Filter • Throttle • Swagger</a:t>
            </a:r>
            <a:br/>
            <a:r>
              <a:t>client_id idempotent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20440"/>
            <a:ext cx="6583680" cy="18288"/>
          </a:xfrm>
          <a:prstGeom prst="rect">
            <a:avLst/>
          </a:prstGeom>
          <a:solidFill>
            <a:srgbClr val="2A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84448"/>
            <a:ext cx="65836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3EA6FF"/>
                </a:solidFill>
                <a:latin typeface="Calibri"/>
              </a:defRPr>
            </a:pPr>
            <a:r>
              <a:t>config/celery.py  •  Celery Beat (hourly / nightly)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822191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877056"/>
            <a:ext cx="2926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Celery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check_overdue_compliance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822191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60" y="3877056"/>
            <a:ext cx="2926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Celery 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0690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Hourly PENDING→OVERDUE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26280"/>
            <a:ext cx="6583680" cy="45720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6583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Postgres 17  •  Redis 7  —  mines • compliance • inspections • audit (hash-chained) • contractors • docs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23444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1371600"/>
            <a:ext cx="32918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STACK — Explainability &gt; Hype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64592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719072"/>
            <a:ext cx="1005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719072"/>
            <a:ext cx="128016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Django 5.1 • DRF • JWT</a:t>
            </a:r>
            <a:br/>
            <a:r>
              <a:t>drf-spectacular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24028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2313432"/>
            <a:ext cx="1005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DB/Queue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313432"/>
            <a:ext cx="128016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Postgres 17 • Redis 7</a:t>
            </a:r>
            <a:br/>
            <a:r>
              <a:t>Celery 5.4 + Gunicorn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83464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2907792"/>
            <a:ext cx="1005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907792"/>
            <a:ext cx="128016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risk.py weighted sum</a:t>
            </a:r>
            <a:br/>
            <a:r>
              <a:t>anomaly.py z-score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42900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92440" y="3502152"/>
            <a:ext cx="1005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GIS/OCR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502152"/>
            <a:ext cx="128016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Leaflet 1.9 • GeoJSON</a:t>
            </a:r>
            <a:br/>
            <a:r>
              <a:t>Tesseract + reportlab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2336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92440" y="4096512"/>
            <a:ext cx="1005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096512"/>
            <a:ext cx="128016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Templates + Chart.js 4.4</a:t>
            </a:r>
            <a:br/>
            <a:r>
              <a:t>Dark • Responsive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61772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92440" y="4690872"/>
            <a:ext cx="10058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690872"/>
            <a:ext cx="128016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Docker Compose</a:t>
            </a:r>
            <a:br/>
            <a:r>
              <a:t>• .env • healthcheck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4406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5577839"/>
            <a:ext cx="1920240" cy="282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Dual-Stack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06440"/>
            <a:ext cx="1920240" cy="514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localhost works on IPv6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577839"/>
            <a:ext cx="1920240" cy="282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No Hard Paths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5806440"/>
            <a:ext cx="1920240" cy="514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Move folder → works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577839"/>
            <a:ext cx="1920240" cy="282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One-Click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806440"/>
            <a:ext cx="1920240" cy="514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start_coalguard.bat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577839"/>
            <a:ext cx="1920240" cy="282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No-Docker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06440"/>
            <a:ext cx="1920240" cy="514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run_local.bat + SQLite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577839"/>
            <a:ext cx="1920240" cy="2828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Configurable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806440"/>
            <a:ext cx="1920240" cy="514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WEB_PORT via .env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3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3C281"/>
                </a:solidFill>
                <a:latin typeface="Calibri"/>
              </a:defRPr>
            </a:pPr>
            <a:r>
              <a:t>05 — COMPLETE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360"/>
              </a:lnSpc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Every PS Requirement → Built &amp; Traceable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8813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320"/>
              </a:lnSpc>
              <a:defRPr sz="1100" b="0" i="0">
                <a:solidFill>
                  <a:srgbClr val="93A4B8"/>
                </a:solidFill>
                <a:latin typeface="Calibri"/>
              </a:defRPr>
            </a:pPr>
            <a:r>
              <a:t>No hand-waving — each row maps to concrete models, APIs and live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017520" cy="34747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9898"/>
            <a:ext cx="30175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00" b="1" i="0">
                <a:solidFill>
                  <a:srgbClr val="93A4B8"/>
                </a:solidFill>
                <a:latin typeface="Calibri"/>
              </a:defRPr>
            </a:pPr>
            <a:r>
              <a:rPr sz="1400"/>
              <a:t>PS REQUIREMENT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417320"/>
            <a:ext cx="5486400" cy="34747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469898"/>
            <a:ext cx="54864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00" b="1" i="0">
                <a:solidFill>
                  <a:srgbClr val="93A4B8"/>
                </a:solidFill>
                <a:latin typeface="Calibri"/>
              </a:defRPr>
            </a:pPr>
            <a:r>
              <a:rPr sz="1400"/>
              <a:t>HOW COALGUARD IMPLEMENTS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417320"/>
            <a:ext cx="2103120" cy="347472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0" y="1469898"/>
            <a:ext cx="210312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93A4B8"/>
                </a:solidFill>
                <a:latin typeface="Calibri"/>
              </a:defRPr>
            </a:pPr>
            <a:r>
              <a:rPr sz="1400"/>
              <a:t>WHERE 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17370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685800" y="1890522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Statutory compliance</a:t>
            </a:r>
            <a:br>
              <a:rPr sz="1400" dirty="0"/>
            </a:br>
            <a:r>
              <a:rPr sz="1400" dirty="0"/>
              <a:t>SAFETY/ENV/PROD/LABOUR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817370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3794760" y="1890522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ComplianceRequirement + Record</a:t>
            </a:r>
            <a:br>
              <a:rPr sz="1400"/>
            </a:br>
            <a:r>
              <a:rPr sz="1400"/>
              <a:t>PENDING→OVERDUE/ESCALATED +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817370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7" name="TextBox 16"/>
          <p:cNvSpPr txBox="1"/>
          <p:nvPr/>
        </p:nvSpPr>
        <p:spPr>
          <a:xfrm>
            <a:off x="9464040" y="1890522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apps/compliance/</a:t>
            </a:r>
            <a:br>
              <a:rPr sz="1200"/>
            </a:br>
            <a:r>
              <a:rPr sz="1200"/>
              <a:t>models.py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393442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685800" y="2466594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Real-time monitoring</a:t>
            </a:r>
            <a:br>
              <a:rPr sz="1400" dirty="0"/>
            </a:br>
            <a:r>
              <a:rPr sz="1400" dirty="0"/>
              <a:t>violations &amp;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393442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3794760" y="2466594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Inspection + Observation (LOW→CRIT)</a:t>
            </a:r>
            <a:br>
              <a:rPr sz="1400"/>
            </a:br>
            <a:r>
              <a:rPr sz="1400"/>
              <a:t>+ CorrectiveAction verify/close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393442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3" name="TextBox 22"/>
          <p:cNvSpPr txBox="1"/>
          <p:nvPr/>
        </p:nvSpPr>
        <p:spPr>
          <a:xfrm>
            <a:off x="9464040" y="2466594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apps/inspections/</a:t>
            </a:r>
            <a:br>
              <a:rPr sz="1200"/>
            </a:br>
            <a:r>
              <a:rPr sz="1200"/>
              <a:t>models.py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969514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5" name="TextBox 24"/>
          <p:cNvSpPr txBox="1"/>
          <p:nvPr/>
        </p:nvSpPr>
        <p:spPr>
          <a:xfrm>
            <a:off x="685800" y="3042666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AI for risk &amp;</a:t>
            </a:r>
            <a:br>
              <a:rPr sz="1400" dirty="0"/>
            </a:br>
            <a:r>
              <a:rPr sz="1400" dirty="0"/>
              <a:t>recurring failures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2969514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7" name="TextBox 26"/>
          <p:cNvSpPr txBox="1"/>
          <p:nvPr/>
        </p:nvSpPr>
        <p:spPr>
          <a:xfrm>
            <a:off x="3794760" y="3042666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Weighted risk + z-score + freq.</a:t>
            </a:r>
            <a:br>
              <a:rPr sz="1400"/>
            </a:br>
            <a:r>
              <a:rPr sz="1400"/>
              <a:t>Explainable, no black-box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2969514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9" name="TextBox 28"/>
          <p:cNvSpPr txBox="1"/>
          <p:nvPr/>
        </p:nvSpPr>
        <p:spPr>
          <a:xfrm>
            <a:off x="9464040" y="3042666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apps/analytics/</a:t>
            </a:r>
            <a:br>
              <a:rPr sz="1200"/>
            </a:br>
            <a:r>
              <a:rPr sz="1200"/>
              <a:t>risk.py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545586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1" name="TextBox 30"/>
          <p:cNvSpPr txBox="1"/>
          <p:nvPr/>
        </p:nvSpPr>
        <p:spPr>
          <a:xfrm>
            <a:off x="685800" y="3618738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/>
              <a:t>Geo-tagged field</a:t>
            </a:r>
            <a:br>
              <a:rPr sz="1400"/>
            </a:br>
            <a:r>
              <a:rPr sz="1400"/>
              <a:t>reporting + offline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39" y="3545586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3" name="TextBox 32"/>
          <p:cNvSpPr txBox="1"/>
          <p:nvPr/>
        </p:nvSpPr>
        <p:spPr>
          <a:xfrm>
            <a:off x="3794760" y="3618738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lat/lon/accuracy + client_id</a:t>
            </a:r>
            <a:br>
              <a:rPr sz="1400"/>
            </a:br>
            <a:r>
              <a:rPr sz="1400"/>
              <a:t>photo + idempotent sync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545586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5" name="TextBox 34"/>
          <p:cNvSpPr txBox="1"/>
          <p:nvPr/>
        </p:nvSpPr>
        <p:spPr>
          <a:xfrm>
            <a:off x="9464040" y="3618738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apps/inspections/</a:t>
            </a:r>
            <a:br>
              <a:rPr sz="1200"/>
            </a:br>
            <a:r>
              <a:rPr sz="1200"/>
              <a:t>serializers.py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121658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7" name="TextBox 36"/>
          <p:cNvSpPr txBox="1"/>
          <p:nvPr/>
        </p:nvSpPr>
        <p:spPr>
          <a:xfrm>
            <a:off x="685800" y="4194810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/>
              <a:t>Role dashboards</a:t>
            </a:r>
            <a:br>
              <a:rPr sz="1400"/>
            </a:br>
            <a:r>
              <a:rPr sz="1400"/>
              <a:t>mine/corp/regulator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39" y="4121658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9" name="TextBox 38"/>
          <p:cNvSpPr txBox="1"/>
          <p:nvPr/>
        </p:nvSpPr>
        <p:spPr>
          <a:xfrm>
            <a:off x="3794760" y="4194810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RBAC 6 roles + Leaflet + Chart.js</a:t>
            </a:r>
            <a:br>
              <a:rPr sz="1400"/>
            </a:br>
            <a:r>
              <a:rPr sz="1400"/>
              <a:t>Per-role filtering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4121658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1" name="TextBox 40"/>
          <p:cNvSpPr txBox="1"/>
          <p:nvPr/>
        </p:nvSpPr>
        <p:spPr>
          <a:xfrm>
            <a:off x="9464040" y="4194810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apps/accounts/</a:t>
            </a:r>
            <a:br>
              <a:rPr sz="1200"/>
            </a:br>
            <a:r>
              <a:rPr sz="1200"/>
              <a:t>models.py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697730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3" name="TextBox 42"/>
          <p:cNvSpPr txBox="1"/>
          <p:nvPr/>
        </p:nvSpPr>
        <p:spPr>
          <a:xfrm>
            <a:off x="685800" y="4770882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/>
              <a:t>Alerts, reminders</a:t>
            </a:r>
            <a:br>
              <a:rPr sz="1400"/>
            </a:br>
            <a:r>
              <a:rPr sz="1400"/>
              <a:t>escalations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49039" y="4697730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5" name="TextBox 44"/>
          <p:cNvSpPr txBox="1"/>
          <p:nvPr/>
        </p:nvSpPr>
        <p:spPr>
          <a:xfrm>
            <a:off x="3794760" y="4770882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Notification + AlertRule + Beat</a:t>
            </a:r>
            <a:br>
              <a:rPr sz="1400"/>
            </a:br>
            <a:r>
              <a:rPr sz="1400"/>
              <a:t>hourly overdue &amp; escalate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4697730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7" name="TextBox 46"/>
          <p:cNvSpPr txBox="1"/>
          <p:nvPr/>
        </p:nvSpPr>
        <p:spPr>
          <a:xfrm>
            <a:off x="9464040" y="4770882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apps/notifications/</a:t>
            </a:r>
            <a:br>
              <a:rPr sz="1200"/>
            </a:br>
            <a:r>
              <a:rPr sz="1200"/>
              <a:t>tasks.py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273802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9" name="TextBox 48"/>
          <p:cNvSpPr txBox="1"/>
          <p:nvPr/>
        </p:nvSpPr>
        <p:spPr>
          <a:xfrm>
            <a:off x="685800" y="5346954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/>
              <a:t>Paperless + OCR</a:t>
            </a:r>
            <a:br>
              <a:rPr sz="1400"/>
            </a:br>
            <a:r>
              <a:rPr sz="1400"/>
              <a:t>+ audit trail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39" y="5273802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1" name="TextBox 50"/>
          <p:cNvSpPr txBox="1"/>
          <p:nvPr/>
        </p:nvSpPr>
        <p:spPr>
          <a:xfrm>
            <a:off x="3794760" y="5346954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/>
              <a:t>Document OCR + PDF/CSV</a:t>
            </a:r>
            <a:br>
              <a:rPr sz="1400"/>
            </a:br>
            <a:r>
              <a:rPr sz="1400"/>
              <a:t>SHA256 hash-chained AuditLog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5273802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53" name="TextBox 52"/>
          <p:cNvSpPr txBox="1"/>
          <p:nvPr/>
        </p:nvSpPr>
        <p:spPr>
          <a:xfrm>
            <a:off x="9464040" y="5346954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apps/documents/</a:t>
            </a:r>
            <a:br>
              <a:rPr sz="1200"/>
            </a:br>
            <a:r>
              <a:rPr sz="1200"/>
              <a:t>ocr.py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861304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5923026"/>
            <a:ext cx="29260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rPr sz="1400"/>
              <a:t>Scalable across</a:t>
            </a:r>
            <a:br>
              <a:rPr sz="1400"/>
            </a:br>
            <a:r>
              <a:rPr sz="1400"/>
              <a:t>mines/subsidiaries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49039" y="5861304"/>
            <a:ext cx="5486400" cy="530352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94760" y="5923026"/>
            <a:ext cx="53949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Subsidiary scoping + bulk import</a:t>
            </a:r>
            <a:br>
              <a:rPr sz="1400" dirty="0"/>
            </a:br>
            <a:r>
              <a:rPr sz="1400" dirty="0"/>
              <a:t>Containerized, </a:t>
            </a:r>
            <a:r>
              <a:rPr sz="1400" dirty="0" err="1"/>
              <a:t>PostGIS</a:t>
            </a:r>
            <a:r>
              <a:rPr sz="1400" dirty="0"/>
              <a:t>-ready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18320" y="5861304"/>
            <a:ext cx="2103120" cy="530352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64040" y="5923026"/>
            <a:ext cx="20116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200"/>
              <a:t>apps/mines/</a:t>
            </a:r>
            <a:br>
              <a:rPr sz="1200"/>
            </a:br>
            <a:r>
              <a:rPr sz="1200"/>
              <a:t>models.py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6421374"/>
            <a:ext cx="10881360" cy="320040"/>
          </a:xfrm>
          <a:prstGeom prst="roundRect">
            <a:avLst>
              <a:gd name="adj" fmla="val 8000"/>
            </a:avLst>
          </a:prstGeom>
          <a:solidFill>
            <a:srgbClr val="16281C"/>
          </a:solidFill>
          <a:ln w="127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499098"/>
            <a:ext cx="108813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33C281"/>
                </a:solidFill>
                <a:latin typeface="Calibri"/>
              </a:defRPr>
            </a:pPr>
            <a:r>
              <a:rPr dirty="0"/>
              <a:t>✓  All 8 capabilities live today — verified via running app, API tests and code walkthrough.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EA6FF"/>
                </a:solidFill>
                <a:latin typeface="Calibri"/>
              </a:defRPr>
            </a:pPr>
            <a:r>
              <a:t>06 — LIVE PLATFORM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120"/>
              </a:lnSpc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Dashboard — Real Screenshot (Not a Mockup)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200"/>
              </a:lnSpc>
              <a:defRPr sz="1000" b="0" i="1">
                <a:solidFill>
                  <a:srgbClr val="93A4B8"/>
                </a:solidFill>
                <a:latin typeface="Calibri"/>
              </a:defRPr>
            </a:pPr>
            <a:r>
              <a:t>Captured from running app at http://127.0.0.1:8001/  •  Dark theme, real data, live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48463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shboard_authed_view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35608"/>
            <a:ext cx="10844784" cy="48097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6309360"/>
            <a:ext cx="10881360" cy="3657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0" i="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8 KPIs  •  Leaflet GIS (459 mines color-coded by risk)  •  4 Chart.js analytics  •  AI anomaly tables  •  Real-time via /</a:t>
            </a:r>
            <a:r>
              <a:rPr sz="1400" dirty="0" err="1"/>
              <a:t>api</a:t>
            </a:r>
            <a:r>
              <a:rPr sz="1400" dirty="0"/>
              <a:t>/dashboard/*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EA6FF"/>
                </a:solidFill>
                <a:latin typeface="Calibri"/>
              </a:defRPr>
            </a:pPr>
            <a:r>
              <a:t>07 — MINE REGISTRY +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120"/>
              </a:lnSpc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Registry &amp; Detail — Real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200"/>
              </a:lnSpc>
              <a:defRPr sz="1000" b="0" i="1">
                <a:solidFill>
                  <a:srgbClr val="93A4B8"/>
                </a:solidFill>
                <a:latin typeface="Calibri"/>
              </a:defRPr>
            </a:pPr>
            <a:r>
              <a:t>Filter, sort, risk badge, CSV export — all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78992"/>
            <a:ext cx="51206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1200"/>
              </a:lnSpc>
              <a:defRPr sz="1000" b="0" i="1">
                <a:solidFill>
                  <a:srgbClr val="93A4B8"/>
                </a:solidFill>
                <a:latin typeface="Calibri"/>
              </a:defRPr>
            </a:pPr>
            <a:r>
              <a:t>Click any mine → risk breakdown + compliance +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132320" cy="45720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ines_view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35608"/>
            <a:ext cx="7095744" cy="39867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29942"/>
            <a:ext cx="7132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3EA6FF"/>
                </a:solidFill>
                <a:latin typeface="Calibri"/>
              </a:defRPr>
            </a:pPr>
            <a:r>
              <a:rPr sz="1400"/>
              <a:t>Mine Registry — Search + 5 filters (state, coal type, mine type, risk, per-page) • Sortable •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45720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ine_detail_view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435608"/>
            <a:ext cx="3438144" cy="19293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65008" y="3474720"/>
            <a:ext cx="3438144" cy="15087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3520440"/>
            <a:ext cx="32918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Mine Detail: Risk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749039"/>
            <a:ext cx="329184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• Risk score 0-100 + level LOW→CRITICAL</a:t>
            </a:r>
            <a:br/>
            <a:r>
              <a:t>• Safety / Compliance / Contractor / Incident breakdown</a:t>
            </a:r>
            <a:br/>
            <a:r>
              <a:t>• Compliance records + inspections + observations list</a:t>
            </a:r>
            <a:br/>
            <a:r>
              <a:t>• Geo-tag + subsidiary scoping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529942"/>
            <a:ext cx="3474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3EA6FF"/>
                </a:solidFill>
                <a:latin typeface="Calibri"/>
              </a:defRPr>
            </a:pPr>
            <a:r>
              <a:rPr sz="1400" dirty="0"/>
              <a:t>Detail View — /mines/&lt;id&gt;/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3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3C281"/>
                </a:solidFill>
                <a:latin typeface="Calibri"/>
              </a:defRPr>
            </a:pPr>
            <a:r>
              <a:t>08 — INTELLIGENCE AT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120"/>
              </a:lnSpc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Explainable AI — No Black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44168"/>
            <a:ext cx="5454332" cy="435254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RISK FORMULA — apps/analytics/risk.py:35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8153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560"/>
              </a:lnSpc>
              <a:defRPr sz="1300" b="1" i="0">
                <a:solidFill>
                  <a:srgbClr val="3EA6FF"/>
                </a:solidFill>
                <a:latin typeface="Calibri"/>
              </a:defRPr>
            </a:pPr>
            <a:r>
              <a:rPr sz="1600" dirty="0"/>
              <a:t>risk =  safety×0.35  +  compliance×0.30  +  contractor×0.15  +  incident×0.20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100" dirty="0"/>
              <a:t>All 0-100 (higher = safer)  •  Floored &amp; rounded  •  </a:t>
            </a:r>
            <a:r>
              <a:rPr sz="1100" dirty="0" err="1"/>
              <a:t>Recomputable</a:t>
            </a:r>
            <a:r>
              <a:rPr sz="1100" dirty="0"/>
              <a:t> on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850" y="2827020"/>
            <a:ext cx="2644140" cy="10134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524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850" y="2900171"/>
            <a:ext cx="2644140" cy="2787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33C281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119628"/>
            <a:ext cx="2644140" cy="506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050" dirty="0"/>
              <a:t>100 − open </a:t>
            </a:r>
            <a:r>
              <a:rPr sz="1050" dirty="0" err="1"/>
              <a:t>obs</a:t>
            </a:r>
            <a:r>
              <a:rPr sz="1050" dirty="0"/>
              <a:t> penalties</a:t>
            </a:r>
            <a:br>
              <a:rPr sz="1050" dirty="0"/>
            </a:br>
            <a:r>
              <a:rPr sz="1050" dirty="0"/>
              <a:t>LOW -2  MED -5  HIGH -12  CRIT -25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3760" y="2827020"/>
            <a:ext cx="2621280" cy="10134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524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3760" y="2900171"/>
            <a:ext cx="2621280" cy="2787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3EA6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3119628"/>
            <a:ext cx="2621280" cy="506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COMPLIANT / determinable ×100</a:t>
            </a:r>
            <a:br>
              <a:rPr sz="1050"/>
            </a:br>
            <a:r>
              <a:rPr sz="1050"/>
              <a:t>No data → 50 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" y="3895725"/>
            <a:ext cx="2644140" cy="10134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5240">
            <a:solidFill>
              <a:srgbClr val="E6C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850" y="3968876"/>
            <a:ext cx="2644140" cy="2787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E6C229"/>
                </a:solidFill>
                <a:latin typeface="Calibri"/>
              </a:defRPr>
            </a:pPr>
            <a:r>
              <a:t>Contractor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4188333"/>
            <a:ext cx="2644140" cy="506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050" dirty="0"/>
              <a:t>Baseline 70 ± hash(subsidiary)</a:t>
            </a:r>
            <a:br>
              <a:rPr sz="1050" dirty="0"/>
            </a:br>
            <a:r>
              <a:rPr sz="1050" dirty="0"/>
              <a:t>Weakest → Phase 2 real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3760" y="3895725"/>
            <a:ext cx="2621280" cy="101346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13760" y="3968876"/>
            <a:ext cx="2621280" cy="2787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defRPr sz="1100" b="1" i="0">
                <a:solidFill>
                  <a:srgbClr val="EF4444"/>
                </a:solidFill>
                <a:latin typeface="Calibri"/>
              </a:defRPr>
            </a:pPr>
            <a:r>
              <a:t>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3760" y="4188333"/>
            <a:ext cx="2621280" cy="506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100 − OPEN×5 − IP×3 − OVERDUE×15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00420"/>
            <a:ext cx="4937760" cy="3200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952490"/>
            <a:ext cx="49377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080"/>
              </a:lnSpc>
              <a:defRPr sz="900" b="0" i="0">
                <a:solidFill>
                  <a:srgbClr val="93A4B8"/>
                </a:solidFill>
                <a:latin typeface="Calibri"/>
              </a:defRPr>
            </a:pPr>
            <a:r>
              <a:rPr dirty="0"/>
              <a:t>LOW 80-100   •   MEDIUM 60-80   •   HIGH 40-60   •   CRITICAL 0-40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25880"/>
            <a:ext cx="5303520" cy="33832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49377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3C281"/>
                </a:solidFill>
                <a:latin typeface="Calibri"/>
              </a:defRPr>
            </a:pPr>
            <a:r>
              <a:t>LIVE DISTRIBUTION — Real Dashboard Analytics (cropped)</a:t>
            </a:r>
          </a:p>
        </p:txBody>
      </p:sp>
      <p:pic>
        <p:nvPicPr>
          <p:cNvPr id="26" name="Picture 25" descr="dashboard_viewport_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937760" cy="277977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17920" y="48463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983480"/>
            <a:ext cx="49377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t>ANOMALY DETECTION — apps/analytics/anomaly.py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t>•  Flag if open_obs &gt; mean + 2σ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t>•  Or overdue CorrectiveActions ≥ 3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t>•  Recurring failures by (OVERDUE+ESCALATED)/total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263640"/>
            <a:ext cx="10881360" cy="32004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338388"/>
            <a:ext cx="108813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0" i="0">
                <a:solidFill>
                  <a:srgbClr val="93A4B8"/>
                </a:solidFill>
                <a:latin typeface="Calibri"/>
              </a:defRPr>
            </a:pPr>
            <a:r>
              <a:rPr sz="1600" dirty="0"/>
              <a:t>Snapshot: 458 scored • Avg 84.4 • 295 LOW • 157 MEDIUM • 6 HIGH  —  Run: python manage.py </a:t>
            </a:r>
            <a:r>
              <a:rPr sz="1600" dirty="0" err="1"/>
              <a:t>recompute_risk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F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EF8A3C"/>
                </a:solidFill>
                <a:latin typeface="Calibri"/>
              </a:defRPr>
            </a:pPr>
            <a:r>
              <a:t>09 — FIELD TO HQ +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120"/>
              </a:lnSpc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Workflow &amp; Paperless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691640" cy="1133856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1417320"/>
            <a:ext cx="384048" cy="38404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472184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Inspection</a:t>
            </a:r>
            <a:br/>
            <a:r>
              <a:t>Geo-tag +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691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client_id</a:t>
            </a:r>
            <a:br/>
            <a:r>
              <a:t>idempotent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83080"/>
            <a:ext cx="25603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439"/>
              </a:lnSpc>
              <a:defRPr sz="12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599" y="1325880"/>
            <a:ext cx="1691640" cy="1133856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54679" y="1417320"/>
            <a:ext cx="384048" cy="384048"/>
          </a:xfrm>
          <a:prstGeom prst="ellipse">
            <a:avLst/>
          </a:prstGeom>
          <a:solidFill>
            <a:srgbClr val="EF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72184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184708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Observation</a:t>
            </a:r>
            <a:br/>
            <a:r>
              <a:t>LOW→CRIT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121408"/>
            <a:ext cx="1691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Category</a:t>
            </a:r>
            <a:br/>
            <a: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9" y="1783080"/>
            <a:ext cx="25603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439"/>
              </a:lnSpc>
              <a:defRPr sz="12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18" y="1325880"/>
            <a:ext cx="1691640" cy="1133856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198" y="141732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198" y="1472184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8" y="184708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Corrective</a:t>
            </a:r>
            <a:br/>
            <a: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8" y="2121408"/>
            <a:ext cx="1691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Owner • Due</a:t>
            </a:r>
            <a:br/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8" y="1783080"/>
            <a:ext cx="25603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439"/>
              </a:lnSpc>
              <a:defRPr sz="12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37" y="1325880"/>
            <a:ext cx="1691640" cy="1133856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3717" y="141732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17" y="1472184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37" y="184708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Auto</a:t>
            </a:r>
            <a:br/>
            <a:r>
              <a:t>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7" y="2121408"/>
            <a:ext cx="1691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Hourly Beat</a:t>
            </a:r>
            <a:br/>
            <a:r>
              <a:t>AlertRule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7" y="1783080"/>
            <a:ext cx="25603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439"/>
              </a:lnSpc>
              <a:defRPr sz="12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6" y="1325880"/>
            <a:ext cx="1691640" cy="1133856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78236" y="1417320"/>
            <a:ext cx="384048" cy="384048"/>
          </a:xfrm>
          <a:prstGeom prst="ellipse">
            <a:avLst/>
          </a:prstGeom>
          <a:solidFill>
            <a:srgbClr val="33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36" y="1472184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6" y="184708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  <a:br/>
            <a:r>
              <a:t>&amp;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6" y="2121408"/>
            <a:ext cx="1691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PDF • CSV</a:t>
            </a:r>
            <a:br/>
            <a:r>
              <a:t>Per-role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6" y="1783080"/>
            <a:ext cx="25603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439"/>
              </a:lnSpc>
              <a:defRPr sz="1200" b="0" i="0">
                <a:solidFill>
                  <a:srgbClr val="93A4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75" y="1325880"/>
            <a:ext cx="1691640" cy="1133856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52755" y="1417320"/>
            <a:ext cx="384048" cy="3840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52755" y="1472184"/>
            <a:ext cx="384048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75" y="1847088"/>
            <a:ext cx="16916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6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Blockchain</a:t>
            </a:r>
            <a:br/>
            <a: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75" y="2121408"/>
            <a:ext cx="16916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t>SHA256 chain</a:t>
            </a:r>
            <a:br/>
            <a:r>
              <a:t>Verify 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514600"/>
            <a:ext cx="6583680" cy="3977639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2651760"/>
            <a:ext cx="6217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rPr sz="1200"/>
              <a:t>API DOCS — REAL SWAGGER UI at /api/docs/  •  JWT + Session • Filter • Throttle</a:t>
            </a:r>
          </a:p>
        </p:txBody>
      </p:sp>
      <p:pic>
        <p:nvPicPr>
          <p:cNvPr id="42" name="Picture 41" descr="api_docs_view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07792"/>
            <a:ext cx="6217920" cy="3493008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498079" y="2514600"/>
            <a:ext cx="4023360" cy="3977639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80960" y="2651760"/>
            <a:ext cx="36576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rPr sz="1400" dirty="0"/>
              <a:t>PAPERLESS &amp; GOVERNANCE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2880360"/>
            <a:ext cx="36576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Document OCR — </a:t>
            </a:r>
            <a:r>
              <a:rPr sz="1400" dirty="0" err="1"/>
              <a:t>pytesseract</a:t>
            </a:r>
            <a:r>
              <a:rPr sz="1400" dirty="0"/>
              <a:t> (</a:t>
            </a:r>
            <a:r>
              <a:rPr sz="1400" dirty="0" err="1"/>
              <a:t>eng+hin</a:t>
            </a:r>
            <a:r>
              <a:rPr sz="1400" dirty="0"/>
              <a:t>) + confidence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PDF via </a:t>
            </a:r>
            <a:r>
              <a:rPr sz="1400" dirty="0" err="1"/>
              <a:t>reportlab</a:t>
            </a:r>
            <a:r>
              <a:rPr sz="1400" dirty="0"/>
              <a:t> + CSV export per mine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Blockchain </a:t>
            </a:r>
            <a:r>
              <a:rPr sz="1400" dirty="0" err="1"/>
              <a:t>AuditLog</a:t>
            </a:r>
            <a:r>
              <a:rPr sz="1400" dirty="0"/>
              <a:t> — </a:t>
            </a:r>
            <a:r>
              <a:rPr sz="1400" dirty="0" err="1"/>
              <a:t>previous_hash</a:t>
            </a:r>
            <a:r>
              <a:rPr sz="1400" dirty="0"/>
              <a:t> + SHA256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Verify at /</a:t>
            </a:r>
            <a:r>
              <a:rPr sz="1400" dirty="0" err="1"/>
              <a:t>api</a:t>
            </a:r>
            <a:r>
              <a:rPr sz="1400" dirty="0"/>
              <a:t>/audit/verify/  •  append-only admin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RBAC 6 roles</a:t>
            </a:r>
            <a:r>
              <a:rPr lang="en-IN" sz="1400" dirty="0"/>
              <a:t> -  </a:t>
            </a:r>
            <a:r>
              <a:rPr sz="1400" dirty="0"/>
              <a:t>ADMIN/REGULATOR/CORP/INSPECTOR...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Notifications — </a:t>
            </a:r>
            <a:r>
              <a:rPr sz="1400" dirty="0" err="1"/>
              <a:t>AlertRule</a:t>
            </a:r>
            <a:r>
              <a:rPr sz="1400" dirty="0"/>
              <a:t> + hourly Celery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Multilingual — </a:t>
            </a:r>
            <a:r>
              <a:rPr sz="1400" dirty="0" err="1"/>
              <a:t>en</a:t>
            </a:r>
            <a:r>
              <a:rPr sz="1400" dirty="0"/>
              <a:t>/hi/bn/</a:t>
            </a:r>
            <a:r>
              <a:rPr sz="1400" dirty="0" err="1"/>
              <a:t>te</a:t>
            </a:r>
            <a:r>
              <a:rPr sz="1400" dirty="0"/>
              <a:t>/</a:t>
            </a:r>
            <a:r>
              <a:rPr sz="1400" dirty="0" err="1"/>
              <a:t>mr</a:t>
            </a:r>
            <a:r>
              <a:rPr sz="1400" dirty="0"/>
              <a:t>/ta + locale</a:t>
            </a:r>
          </a:p>
          <a:p>
            <a:pPr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400" dirty="0"/>
              <a:t>•  Offline sync — </a:t>
            </a:r>
            <a:r>
              <a:rPr sz="1400" dirty="0" err="1"/>
              <a:t>client_id</a:t>
            </a:r>
            <a:r>
              <a:rPr sz="1400" dirty="0"/>
              <a:t>, photo, accuracy_</a:t>
            </a:r>
            <a:r>
              <a:rPr lang="en-IN" sz="1400" dirty="0" err="1"/>
              <a:t>adm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EA6FF"/>
                </a:solidFill>
                <a:latin typeface="Calibri"/>
              </a:defRPr>
            </a:pPr>
            <a:r>
              <a:t>10 — IMPACT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360"/>
              </a:lnSpc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Ready Today. Scalable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9834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EF4444"/>
                </a:solidFill>
                <a:latin typeface="Calibri"/>
              </a:defRPr>
            </a:pPr>
            <a:r>
              <a:rPr sz="1200"/>
              <a:t>BEFORE — Manual, Siloed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983480" cy="116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rPr sz="1200" dirty="0"/>
              <a:t>•  Spreadsheets &amp; paper files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rPr sz="1200" dirty="0"/>
              <a:t>•  Days-weeks reporting lag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rPr sz="1200" dirty="0"/>
              <a:t>•  Gaps found only at audit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rPr sz="1200" dirty="0"/>
              <a:t>•  Field unverifiable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93A4B8"/>
                </a:solidFill>
                <a:latin typeface="Calibri"/>
              </a:defRPr>
            </a:pPr>
            <a:r>
              <a:rPr sz="1200" dirty="0"/>
              <a:t>•  Gut-feel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7548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080"/>
              </a:lnSpc>
              <a:defRPr sz="900" b="1" i="0">
                <a:solidFill>
                  <a:srgbClr val="33C281"/>
                </a:solidFill>
                <a:latin typeface="Calibri"/>
              </a:defRPr>
            </a:pPr>
            <a:r>
              <a:rPr sz="1200"/>
              <a:t>AFTER — CoalGuard Unified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754880" cy="116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E6EDF3"/>
                </a:solidFill>
                <a:latin typeface="Calibri"/>
              </a:defRPr>
            </a:pPr>
            <a:r>
              <a:rPr sz="1200"/>
              <a:t>•  Single source of truth + audit trail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E6EDF3"/>
                </a:solidFill>
                <a:latin typeface="Calibri"/>
              </a:defRPr>
            </a:pPr>
            <a:r>
              <a:rPr sz="1200"/>
              <a:t>•  Real-time KPIs + hourly escalations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E6EDF3"/>
                </a:solidFill>
                <a:latin typeface="Calibri"/>
              </a:defRPr>
            </a:pPr>
            <a:r>
              <a:rPr sz="1200"/>
              <a:t>•  Overdue auto-flag → notified → escalated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E6EDF3"/>
                </a:solidFill>
                <a:latin typeface="Calibri"/>
              </a:defRPr>
            </a:pPr>
            <a:r>
              <a:rPr sz="1200"/>
              <a:t>•  Every report geo/time/photo/hash</a:t>
            </a:r>
          </a:p>
          <a:p>
            <a:pPr>
              <a:lnSpc>
                <a:spcPts val="1170"/>
              </a:lnSpc>
              <a:spcAft>
                <a:spcPts val="600"/>
              </a:spcAft>
              <a:defRPr sz="900">
                <a:solidFill>
                  <a:srgbClr val="E6EDF3"/>
                </a:solidFill>
                <a:latin typeface="Calibri"/>
              </a:defRPr>
            </a:pPr>
            <a:r>
              <a:rPr sz="1200"/>
              <a:t>•  Risk-ranked, data-driven priorities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1965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920"/>
              </a:lnSpc>
              <a:defRPr sz="1600" b="1" i="0">
                <a:solidFill>
                  <a:srgbClr val="3EA6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1"/>
            <a:ext cx="19659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4290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2788920" y="3493008"/>
            <a:ext cx="1965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920"/>
              </a:lnSpc>
              <a:defRPr sz="1600" b="1" i="0">
                <a:solidFill>
                  <a:srgbClr val="33C281"/>
                </a:solidFill>
                <a:latin typeface="Calibri"/>
              </a:defRPr>
            </a:pPr>
            <a:r>
              <a:t>70%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822191"/>
            <a:ext cx="19659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Paperwork*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4290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937760" y="3493008"/>
            <a:ext cx="1965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920"/>
              </a:lnSpc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822191"/>
            <a:ext cx="19659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Mines mapped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4290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EF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7086600" y="3493008"/>
            <a:ext cx="1965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920"/>
              </a:lnSpc>
              <a:defRPr sz="1600" b="1" i="0">
                <a:solidFill>
                  <a:srgbClr val="EF8A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822191"/>
            <a:ext cx="19659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High-risk flagged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4290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524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9235440" y="3493008"/>
            <a:ext cx="1965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920"/>
              </a:lnSpc>
              <a:defRPr sz="1600" b="1" i="0">
                <a:solidFill>
                  <a:srgbClr val="3EA6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822191"/>
            <a:ext cx="19659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93A4B8"/>
                </a:solidFill>
                <a:latin typeface="Calibri"/>
              </a:defRPr>
            </a:pPr>
            <a:r>
              <a:rPr sz="1050"/>
              <a:t>Audit verifiable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88136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840"/>
              </a:lnSpc>
              <a:defRPr sz="700" b="0" i="0">
                <a:solidFill>
                  <a:srgbClr val="5A6B7D"/>
                </a:solidFill>
                <a:latin typeface="Calibri"/>
              </a:defRPr>
            </a:pPr>
            <a:r>
              <a:rPr sz="1050"/>
              <a:t>*projected vs manual baseline — architecture is what scales; data is pluggable.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43484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822960" y="4572000"/>
            <a:ext cx="49834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3EA6FF"/>
                </a:solidFill>
                <a:latin typeface="Calibri"/>
              </a:defRPr>
            </a:pPr>
            <a:r>
              <a:rPr sz="1100"/>
              <a:t>HOW TO RUN — One-Click, No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49834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rPr sz="1100"/>
              <a:t>1  Double-click  start_coalguard.bat  → builds, migrates, seeds, opens browser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56981"/>
            <a:ext cx="49834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rPr sz="1100" dirty="0"/>
              <a:t>2  Browse  http://127.0.0.1:8001/  •  /mines/  •  /</a:t>
            </a:r>
            <a:r>
              <a:rPr sz="1100" dirty="0" err="1"/>
              <a:t>api</a:t>
            </a:r>
            <a:r>
              <a:rPr sz="1100" dirty="0"/>
              <a:t>/docs/  •  /health/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25085"/>
            <a:ext cx="4983480" cy="27432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 i="0">
                <a:solidFill>
                  <a:srgbClr val="93A4B8"/>
                </a:solidFill>
                <a:latin typeface="Consolas"/>
              </a:defRPr>
            </a:pPr>
            <a:r>
              <a:rPr sz="1050" dirty="0"/>
              <a:t>3  Login  admin/Admin@123  •  inspector/Inspector@123  •  regulator/Regulator@123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99405"/>
            <a:ext cx="4983480" cy="27432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840"/>
              </a:lnSpc>
              <a:defRPr sz="700" b="0" i="0">
                <a:solidFill>
                  <a:srgbClr val="3EA6FF"/>
                </a:solidFill>
                <a:latin typeface="Consolas"/>
              </a:defRPr>
            </a:pPr>
            <a:r>
              <a:rPr sz="1050"/>
              <a:t>No-Docker:  run_local.bat  → .venv + SQLite + sync Celery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43484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47548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960"/>
              </a:lnSpc>
              <a:defRPr sz="800" b="1" i="0">
                <a:solidFill>
                  <a:srgbClr val="EF8A3C"/>
                </a:solidFill>
                <a:latin typeface="Calibri"/>
              </a:defRPr>
            </a:pPr>
            <a:r>
              <a:rPr sz="1100"/>
              <a:t>ROADMAP — Post-MVP (Out of Scope)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00600"/>
            <a:ext cx="4754880" cy="839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40"/>
              </a:lnSpc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100"/>
              <a:t>•  PostGIS + GeoDjango heatmap &amp; radius search</a:t>
            </a:r>
          </a:p>
          <a:p>
            <a:pPr>
              <a:lnSpc>
                <a:spcPts val="1040"/>
              </a:lnSpc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100"/>
              <a:t>•  ML classifier replaces weighted formula</a:t>
            </a:r>
          </a:p>
          <a:p>
            <a:pPr>
              <a:lnSpc>
                <a:spcPts val="1040"/>
              </a:lnSpc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100"/>
              <a:t>•  PWA + WatermelonDB background sync</a:t>
            </a:r>
          </a:p>
          <a:p>
            <a:pPr>
              <a:lnSpc>
                <a:spcPts val="1040"/>
              </a:lnSpc>
              <a:spcAft>
                <a:spcPts val="600"/>
              </a:spcAft>
              <a:defRPr sz="800">
                <a:solidFill>
                  <a:srgbClr val="93A4B8"/>
                </a:solidFill>
                <a:latin typeface="Calibri"/>
              </a:defRPr>
            </a:pPr>
            <a:r>
              <a:rPr sz="1100"/>
              <a:t>•  Multilingual LLM/RAG over compliance corpus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537960"/>
            <a:ext cx="10881360" cy="228600"/>
          </a:xfrm>
          <a:prstGeom prst="roundRect">
            <a:avLst>
              <a:gd name="adj" fmla="val 8000"/>
            </a:avLst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565392"/>
            <a:ext cx="10881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defRPr sz="1000" b="1" i="0">
                <a:solidFill>
                  <a:srgbClr val="0F1620"/>
                </a:solidFill>
                <a:latin typeface="Calibri"/>
              </a:defRPr>
            </a:pPr>
            <a:r>
              <a:t>CoalGuard is Ready to Deploy — Not Slideware.  Thank You — Questions &amp; Live Demo at localhost:8001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2036</Words>
  <Application>Microsoft Office PowerPoint</Application>
  <PresentationFormat>Custom</PresentationFormat>
  <Paragraphs>278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CoalGuard — SIH 2026 PSID 26024</dc:title>
  <dc:subject>AI-Based Smart Governance &amp; Compliance Monitoring for Coal Mines</dc:subject>
  <dc:creator>CoalGuard Team</dc:creator>
  <cp:keywords/>
  <dc:description>generated using python-pptx</dc:description>
  <cp:lastModifiedBy>MK</cp:lastModifiedBy>
  <cp:revision>3</cp:revision>
  <dcterms:created xsi:type="dcterms:W3CDTF">2013-01-27T09:14:16Z</dcterms:created>
  <dcterms:modified xsi:type="dcterms:W3CDTF">2026-09-04T12:45:36Z</dcterms:modified>
  <cp:category/>
</cp:coreProperties>
</file>