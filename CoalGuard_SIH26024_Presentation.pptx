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2 min: Title. CoalGuard = one platform for every mine/rule/report. Point to live screenshot on right. 30pt forces brevity.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2 min: Three crisp problems. Scale grounds it in real data. 30pt forces you to talk, not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1.5 min: Core platform with 4 pillars. Field → HQ in one place. Keep it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1.5 min: 3-step flow. Field → Platform → HQ. Offline + audit are trust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1.5 min: Boring-tech for reliability. Local-first, dual-stack, one-click.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1 min: Prove 100% coverage. Every check is code + live, not future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3 min: LIVE. Show KPIs, map colors, charts. Switch to browser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1.5 min: Registry drill-down. Filters, risk badge, Real/Synthetic tag. Click to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2 min: AI is transparent weighted sum, not black box. Show Swagger live on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2 min: Impact + run + ask. Keep it to 30pt, talk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32004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PSID 26024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86868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0F1620"/>
                </a:solidFill>
                <a:latin typeface="Calibri"/>
              </a:defRPr>
            </a:pPr>
            <a:r>
              <a:t>CG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40080"/>
            <a:ext cx="64008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5059"/>
              </a:lnSpc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CoalGuard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188720"/>
            <a:ext cx="6400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0" i="1">
                <a:solidFill>
                  <a:srgbClr val="3EA6FF"/>
                </a:solidFill>
                <a:latin typeface="Calibri"/>
              </a:defRPr>
            </a:pPr>
            <a:r>
              <a:t>Smart Governance for Coal Mines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One Platform.</a:t>
            </a:r>
          </a:p>
          <a:p>
            <a:pPr>
              <a:spcAft>
                <a:spcPts val="600"/>
              </a:spcAft>
              <a:defRPr sz="3600" b="1">
                <a:solidFill>
                  <a:srgbClr val="3EA6FF"/>
                </a:solidFill>
                <a:latin typeface="Calibri"/>
              </a:defRPr>
            </a:pPr>
            <a:r>
              <a:t>Every Mine. Every Rule.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6858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Ministry of Coal • Coal India Limited • SIH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640080"/>
            <a:ext cx="3657600" cy="46634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777240"/>
            <a:ext cx="34747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LIVE DASHBOARD</a:t>
            </a:r>
          </a:p>
        </p:txBody>
      </p:sp>
      <p:pic>
        <p:nvPicPr>
          <p:cNvPr id="12" name="Picture 11" descr="dashboard_view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143000"/>
            <a:ext cx="3383280" cy="19019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01000" y="315468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291840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459 Mines  •  12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03320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Live • Real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200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onsolas"/>
              </a:defRPr>
            </a:pPr>
            <a:r>
              <a:t>localhost:8001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5A6B7D"/>
                </a:solidFill>
                <a:latin typeface="Calibri"/>
              </a:defRPr>
            </a:pPr>
            <a:r>
              <a:t>Built for SIH 2026  •  Demo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4140"/>
              </a:lnSpc>
              <a:defRPr sz="3600" b="1" i="0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0" i="1">
                <a:solidFill>
                  <a:srgbClr val="FFFFFF"/>
                </a:solidFill>
                <a:latin typeface="Calibri"/>
              </a:defRPr>
            </a:pPr>
            <a:r>
              <a:t>Fragmented. Delayed. Opaque.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800"/>
              </a:spcAft>
              <a:defRPr sz="3000">
                <a:solidFill>
                  <a:srgbClr val="93A4B8"/>
                </a:solidFill>
                <a:latin typeface="Calibri"/>
              </a:defRPr>
            </a:pPr>
            <a:r>
              <a:t>•  Paper &amp; spreadsheets across 37 owners</a:t>
            </a:r>
          </a:p>
          <a:p>
            <a:pPr>
              <a:lnSpc>
                <a:spcPts val="3600"/>
              </a:lnSpc>
              <a:spcAft>
                <a:spcPts val="800"/>
              </a:spcAft>
              <a:defRPr sz="3000">
                <a:solidFill>
                  <a:srgbClr val="93A4B8"/>
                </a:solidFill>
                <a:latin typeface="Calibri"/>
              </a:defRPr>
            </a:pPr>
            <a:r>
              <a:t>•  Weeks to report. Gaps found only at audit.</a:t>
            </a:r>
          </a:p>
          <a:p>
            <a:pPr>
              <a:lnSpc>
                <a:spcPts val="3600"/>
              </a:lnSpc>
              <a:spcAft>
                <a:spcPts val="800"/>
              </a:spcAft>
              <a:defRPr sz="3000">
                <a:solidFill>
                  <a:srgbClr val="93A4B8"/>
                </a:solidFill>
                <a:latin typeface="Calibri"/>
              </a:defRPr>
            </a:pPr>
            <a:r>
              <a:t>•  Field work unverifiable.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607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Scale of Data We Ingested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459 Mines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177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12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617720"/>
            <a:ext cx="32004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52 Districts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607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Real Kaggle dataset • Geocoded 459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4140"/>
              </a:lnSpc>
              <a:defRPr sz="3600" b="1" i="0">
                <a:solidFill>
                  <a:srgbClr val="3EA6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0" i="1">
                <a:solidFill>
                  <a:srgbClr val="FFFFFF"/>
                </a:solidFill>
                <a:latin typeface="Calibri"/>
              </a:defRPr>
            </a:pPr>
            <a:r>
              <a:t>One Ecosystem. Zero Silos.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69164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874519"/>
            <a:ext cx="2743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0F1620"/>
                </a:solidFill>
                <a:latin typeface="Calibri"/>
              </a:defRPr>
            </a:pPr>
            <a:r>
              <a:t>CoalGuard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286000"/>
            <a:ext cx="2743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0F1620"/>
                </a:solidFill>
                <a:latin typeface="Calibri"/>
              </a:defRPr>
            </a:pPr>
            <a:r>
              <a:t>Central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33C281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10896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EF8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Inspections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EF8A3C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Corrective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EF4444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61772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E6C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46320"/>
            <a:ext cx="45720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GIS &amp; 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E6C229"/>
                </a:solidFill>
                <a:latin typeface="Calibri"/>
              </a:defRPr>
            </a:pPr>
            <a:r>
              <a:t>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1 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5661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Geo-tag +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33C281"/>
                </a:solidFill>
                <a:latin typeface="Calibri"/>
              </a:defRPr>
            </a:pPr>
            <a:r>
              <a:t>● 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35661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EF4444"/>
                </a:solidFill>
                <a:latin typeface="Calibri"/>
              </a:defRPr>
            </a:pPr>
            <a:r>
              <a:t>2 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48840"/>
            <a:ext cx="35661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Auto-escalate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356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33C281"/>
                </a:solidFill>
                <a:latin typeface="Calibri"/>
              </a:defRPr>
            </a:pPr>
            <a:r>
              <a:t>●  Verified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600200"/>
            <a:ext cx="35661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3  HQ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48840"/>
            <a:ext cx="35661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Dashboard +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743200"/>
            <a:ext cx="3566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33C281"/>
                </a:solidFill>
                <a:latin typeface="Calibri"/>
              </a:defRPr>
            </a:pPr>
            <a:r>
              <a:t>● 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331720"/>
            <a:ext cx="274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331720"/>
            <a:ext cx="274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1">
                <a:solidFill>
                  <a:srgbClr val="93A4B8"/>
                </a:solidFill>
                <a:latin typeface="Calibri"/>
              </a:defRPr>
            </a:pPr>
            <a:r>
              <a:t>Every report geo-tagged. Hash-audited.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720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Offline Mobile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53035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client_id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57200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Blockchain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6636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SHA256 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How We Built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E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Django 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Postgres 17 + Redis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Leaflet GIS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Chart.js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5120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Celery Beat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Hourly Escalations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4612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E6C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120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One-click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1C2836"/>
          </a:solidFill>
          <a:ln w="127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Local-first. No Cloud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3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PS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8 / 8 Requirements —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745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317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Inspections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317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AI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745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3172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Geo-tagged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37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04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776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337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5204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9776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337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5204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9776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Paperless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3375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5204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4140"/>
              </a:lnSpc>
              <a:defRPr sz="3600" b="1" i="0">
                <a:solidFill>
                  <a:srgbClr val="33C2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977640"/>
            <a:ext cx="26060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1">
                <a:solidFill>
                  <a:srgbClr val="93A4B8"/>
                </a:solidFill>
                <a:latin typeface="Calibri"/>
              </a:defRPr>
            </a:pPr>
            <a:r>
              <a:t>All features verified in code &amp; live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Live Demo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0" i="0">
                <a:solidFill>
                  <a:srgbClr val="93A4B8"/>
                </a:solidFill>
                <a:latin typeface="Consolas"/>
              </a:defRPr>
            </a:pPr>
            <a:r>
              <a:t>Real Screenshot  •  localhost:8001/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881360" cy="50749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view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1078992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KPIs  •  GIS Map  •  Charts — All Live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Live Demo — Mine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0" i="0">
                <a:solidFill>
                  <a:srgbClr val="93A4B8"/>
                </a:solidFill>
                <a:latin typeface="Consolas"/>
              </a:defRPr>
            </a:pPr>
            <a:r>
              <a:t>Real Screenshot  •  /mines/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05840"/>
            <a:ext cx="10881360" cy="50749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nes_view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1078992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FFFFFF"/>
                </a:solidFill>
                <a:latin typeface="Calibri"/>
              </a:defRPr>
            </a:pPr>
            <a:r>
              <a:t>Search  •  Filter  •  Risk Badge  •  CSV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3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AI Engine +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5303520" cy="25603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49377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Risk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400"/>
              </a:lnSpc>
              <a:defRPr sz="3000">
                <a:solidFill>
                  <a:srgbClr val="FFFFFF"/>
                </a:solidFill>
                <a:latin typeface="Calibri"/>
              </a:defRPr>
            </a:pPr>
            <a:r>
              <a:t>safety × 0.35</a:t>
            </a:r>
          </a:p>
          <a:p>
            <a:pPr algn="ctr">
              <a:lnSpc>
                <a:spcPts val="3400"/>
              </a:lnSpc>
              <a:defRPr sz="3000">
                <a:solidFill>
                  <a:srgbClr val="FFFFFF"/>
                </a:solidFill>
                <a:latin typeface="Calibri"/>
              </a:defRPr>
            </a:pPr>
            <a:r>
              <a:t>+ compliance × 0.30</a:t>
            </a:r>
          </a:p>
          <a:p>
            <a:pPr algn="ctr">
              <a:lnSpc>
                <a:spcPts val="3400"/>
              </a:lnSpc>
              <a:defRPr sz="3000">
                <a:solidFill>
                  <a:srgbClr val="FFFFFF"/>
                </a:solidFill>
                <a:latin typeface="Calibri"/>
              </a:defRPr>
            </a:pPr>
            <a:r>
              <a:t>+ contractor × 0.15 + incident × 0.20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6012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Swagger  •  /api/docs/</a:t>
            </a:r>
          </a:p>
        </p:txBody>
      </p:sp>
      <p:pic>
        <p:nvPicPr>
          <p:cNvPr id="9" name="Picture 8" descr="api_docs_view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08760"/>
            <a:ext cx="5029200" cy="28254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3749039"/>
            <a:ext cx="5303520" cy="64008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LOW • MEDIUM • HIGH •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Explainable. Auditable.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458 scored • Avg 84.4 • 6 High flagged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Impact &amp;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Not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3258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Paperless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830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OCR +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474720" cy="155448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25400">
            <a:solidFill>
              <a:srgbClr val="33C2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3258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3C281"/>
                </a:solidFill>
                <a:latin typeface="Calibri"/>
              </a:defRPr>
            </a:pPr>
            <a:r>
              <a:t>Auditable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783080"/>
            <a:ext cx="34747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SHA256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72800" cy="1737360"/>
          </a:xfrm>
          <a:prstGeom prst="roundRect">
            <a:avLst>
              <a:gd name="adj" fmla="val 8000"/>
            </a:avLst>
          </a:prstGeom>
          <a:solidFill>
            <a:srgbClr val="16202C"/>
          </a:solidFill>
          <a:ln w="12700">
            <a:solidFill>
              <a:srgbClr val="2A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10607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3EA6FF"/>
                </a:solidFill>
                <a:latin typeface="Calibri"/>
              </a:defRPr>
            </a:pPr>
            <a:r>
              <a:t>Run Now — One Click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0607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FFFFFF"/>
                </a:solidFill>
                <a:latin typeface="Consolas"/>
              </a:defRPr>
            </a:pPr>
            <a:r>
              <a:t>start_coalguard.bat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0607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0" i="0">
                <a:solidFill>
                  <a:srgbClr val="93A4B8"/>
                </a:solidFill>
                <a:latin typeface="Calibri"/>
              </a:defRPr>
            </a:pPr>
            <a:r>
              <a:t>localhost:8001  •  Demo logins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450"/>
              </a:lnSpc>
              <a:defRPr sz="3000" b="1" i="0">
                <a:solidFill>
                  <a:srgbClr val="0F1620"/>
                </a:solidFill>
                <a:latin typeface="Calibri"/>
              </a:defRPr>
            </a:pPr>
            <a:r>
              <a:t>Ready to Deploy.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CoalGuard SIH 2026 PSID 26024 - 10-20-30</dc:title>
  <dc:subject/>
  <dc:creator>CoalGuard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